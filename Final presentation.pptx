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</p:sldIdLst>
  <p:sldSz cy="5143500" cx="9144000"/>
  <p:notesSz cx="6858000" cy="9144000"/>
  <p:embeddedFontLst>
    <p:embeddedFont>
      <p:font typeface="Anton"/>
      <p:regular r:id="rId52"/>
    </p:embeddedFont>
    <p:embeddedFont>
      <p:font typeface="Inter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32355A3-BB82-4D83-A646-92BBAF8C4D12}">
  <a:tblStyle styleId="{532355A3-BB82-4D83-A646-92BBAF8C4D1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font" Target="fonts/Inter-regular.fntdata"/><Relationship Id="rId52" Type="http://schemas.openxmlformats.org/officeDocument/2006/relationships/font" Target="fonts/Anton-regular.fntdata"/><Relationship Id="rId11" Type="http://schemas.openxmlformats.org/officeDocument/2006/relationships/slide" Target="slides/slide4.xml"/><Relationship Id="rId55" Type="http://schemas.openxmlformats.org/officeDocument/2006/relationships/font" Target="fonts/Inter-italic.fntdata"/><Relationship Id="rId10" Type="http://schemas.openxmlformats.org/officeDocument/2006/relationships/slide" Target="slides/slide3.xml"/><Relationship Id="rId54" Type="http://schemas.openxmlformats.org/officeDocument/2006/relationships/font" Target="fonts/Inter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56" Type="http://schemas.openxmlformats.org/officeDocument/2006/relationships/font" Target="fonts/Inter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3d33c715_4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73d33c715_4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793f0ae5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793f0ae5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Today I will introduce my project, </a:t>
            </a:r>
            <a:r>
              <a:rPr b="1" lang="en">
                <a:solidFill>
                  <a:schemeClr val="dk1"/>
                </a:solidFill>
              </a:rPr>
              <a:t>EEG-Based Modeling of Cognitive State and Workload in Architectural Design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project aims to understand the neural mechanisms underlying long-duration architectural design tasks in realistic settings. In particular, I am interested in how </a:t>
            </a:r>
            <a:r>
              <a:rPr b="1" lang="en">
                <a:solidFill>
                  <a:schemeClr val="dk1"/>
                </a:solidFill>
              </a:rPr>
              <a:t>Generative AI assistance</a:t>
            </a:r>
            <a:r>
              <a:rPr lang="en">
                <a:solidFill>
                  <a:schemeClr val="dk1"/>
                </a:solidFill>
              </a:rPr>
              <a:t> may influence </a:t>
            </a:r>
            <a:r>
              <a:rPr b="1" lang="en">
                <a:solidFill>
                  <a:schemeClr val="dk1"/>
                </a:solidFill>
              </a:rPr>
              <a:t>brian activity </a:t>
            </a:r>
            <a:r>
              <a:rPr b="1" lang="en">
                <a:solidFill>
                  <a:schemeClr val="dk1"/>
                </a:solidFill>
              </a:rPr>
              <a:t>signal</a:t>
            </a:r>
            <a:r>
              <a:rPr b="1" lang="en">
                <a:solidFill>
                  <a:schemeClr val="dk1"/>
                </a:solidFill>
              </a:rPr>
              <a:t> features.</a:t>
            </a:r>
            <a:r>
              <a:rPr lang="en">
                <a:solidFill>
                  <a:schemeClr val="dk1"/>
                </a:solidFill>
              </a:rPr>
              <a:t>Unlike traditional laboratory studies that use short and highly controlled trials, this project focuses on </a:t>
            </a:r>
            <a:r>
              <a:rPr b="1" lang="en">
                <a:solidFill>
                  <a:schemeClr val="dk1"/>
                </a:solidFill>
              </a:rPr>
              <a:t>continuous, ecologically valid design activity</a:t>
            </a:r>
            <a:r>
              <a:rPr lang="en">
                <a:solidFill>
                  <a:schemeClr val="dk1"/>
                </a:solidFill>
              </a:rPr>
              <a:t> over a much longer time scale.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793f0ae56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9793f0ae56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this study, participants completed a real architectural design task organized into four phases: </a:t>
            </a:r>
            <a:r>
              <a:rPr b="1" lang="en">
                <a:solidFill>
                  <a:schemeClr val="dk1"/>
                </a:solidFill>
              </a:rPr>
              <a:t>Rest 1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Task 1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Rest 2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b="1" lang="en">
                <a:solidFill>
                  <a:schemeClr val="dk1"/>
                </a:solidFill>
              </a:rPr>
              <a:t>Task 2</a:t>
            </a:r>
            <a:r>
              <a:rPr lang="en">
                <a:solidFill>
                  <a:schemeClr val="dk1"/>
                </a:solidFill>
              </a:rPr>
              <a:t>. Task 1 , and Task 2 was a revision phase in which participants either used </a:t>
            </a:r>
            <a:r>
              <a:rPr b="1" lang="en">
                <a:solidFill>
                  <a:schemeClr val="dk1"/>
                </a:solidFill>
              </a:rPr>
              <a:t>conventional inspiration search</a:t>
            </a:r>
            <a:r>
              <a:rPr lang="en">
                <a:solidFill>
                  <a:schemeClr val="dk1"/>
                </a:solidFill>
              </a:rPr>
              <a:t> or a </a:t>
            </a:r>
            <a:r>
              <a:rPr b="1" lang="en">
                <a:solidFill>
                  <a:schemeClr val="dk1"/>
                </a:solidFill>
              </a:rPr>
              <a:t>Generative AI-assisted condition</a:t>
            </a:r>
            <a:r>
              <a:rPr lang="en">
                <a:solidFill>
                  <a:schemeClr val="dk1"/>
                </a:solidFill>
              </a:rPr>
              <a:t>. For neural recording, the study used a </a:t>
            </a:r>
            <a:r>
              <a:rPr b="1" lang="en">
                <a:solidFill>
                  <a:schemeClr val="dk1"/>
                </a:solidFill>
              </a:rPr>
              <a:t>EEG system</a:t>
            </a:r>
            <a:r>
              <a:rPr lang="en">
                <a:solidFill>
                  <a:schemeClr val="dk1"/>
                </a:solidFill>
              </a:rPr>
              <a:t>. The EEG setup included </a:t>
            </a:r>
            <a:r>
              <a:rPr b="1" lang="en">
                <a:solidFill>
                  <a:schemeClr val="dk1"/>
                </a:solidFill>
              </a:rPr>
              <a:t>16 wet electrodes</a:t>
            </a:r>
            <a:r>
              <a:rPr lang="en">
                <a:solidFill>
                  <a:schemeClr val="dk1"/>
                </a:solidFill>
              </a:rPr>
              <a:t> with frontal, central, and parietal coverage, and </a:t>
            </a:r>
            <a:r>
              <a:rPr b="1" lang="en">
                <a:solidFill>
                  <a:schemeClr val="dk1"/>
                </a:solidFill>
              </a:rPr>
              <a:t>500 Hz sample rate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measure subjective workload, participants completed a </a:t>
            </a:r>
            <a:r>
              <a:rPr b="1" lang="en">
                <a:solidFill>
                  <a:schemeClr val="dk1"/>
                </a:solidFill>
              </a:rPr>
              <a:t>NASA-TLX-style workload questionnaire</a:t>
            </a:r>
            <a:r>
              <a:rPr lang="en">
                <a:solidFill>
                  <a:schemeClr val="dk1"/>
                </a:solidFill>
              </a:rPr>
              <a:t>, which evaluates multiple dimensions of workload.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793f0ae56_2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793f0ae56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preprocessing pipeline is designed to remove noise and artifacts while preserving meaningful neural signals. After preprocessing, we  extracted EEG features by referring other published papers, Window-level features are first computed and then aggregated across the task. For each base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feature, we have mean, std, and slope over time.finally we including 261 features.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793f0ae56_2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793f0ae56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analysis focuses on two supervised learning problems. The first is a classification task, where EEG features are used to distinguish between different task conditions. The second is a regression task, where EEG features are used to predict self-reported workload scores.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73d33c715_2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73d33c715_2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75430b1a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975430b1a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57b52d0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57b52d0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57b52d05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57b52d05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758223cf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758223cf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758223cf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9758223cf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758223cf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758223cf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73d33c715_2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973d33c715_2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758223cf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9758223cf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73d33c715_2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973d33c715_2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73d33c715_2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973d33c715_2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973d33c715_2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973d33c715_2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73d33c715_2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973d33c715_2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75430b1a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975430b1a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75430b1a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975430b1a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758223cf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9758223cf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9758223cf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9758223cf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9758223cf9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9758223cf9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758223cf9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9758223cf9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9758223cf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9758223cf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9789897d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9789897d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9789897de0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9789897de0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793f0ae56_1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9793f0ae56_1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793f0ae56_1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9793f0ae56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9793f0ae56_16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9793f0ae56_16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9793f0ae56_18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9793f0ae56_18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9793f0ae56_18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9793f0ae56_18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9793f0ae56_18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9793f0ae56_18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9793f0ae56_18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9793f0ae56_18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9793f0ae56_18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9793f0ae56_18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9793f0ae56_18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9793f0ae56_18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793f0ae56_18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9793f0ae56_18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9798a53ba7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9798a53ba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973d33c715_2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973d33c715_2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9793f0ae56_1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9793f0ae56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973d33c715_2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973d33c715_2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9758223cf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9758223cf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975430b1a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975430b1a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9758223cf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9758223cf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png"/><Relationship Id="rId4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doi.org/10.1016/j.sleep.2025.108723" TargetMode="External"/><Relationship Id="rId4" Type="http://schemas.openxmlformats.org/officeDocument/2006/relationships/hyperlink" Target="https://www.sciencedirect.com/science/article/pii/S0360132325011436" TargetMode="External"/><Relationship Id="rId5" Type="http://schemas.openxmlformats.org/officeDocument/2006/relationships/hyperlink" Target="https://doi.org/10.1016/j.ijpsycho.2016.11.005" TargetMode="External"/><Relationship Id="rId6" Type="http://schemas.openxmlformats.org/officeDocument/2006/relationships/hyperlink" Target="https://www.sciencedirect.com/science/article/pii/S195903182100138X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25"/>
          <p:cNvCxnSpPr/>
          <p:nvPr/>
        </p:nvCxnSpPr>
        <p:spPr>
          <a:xfrm>
            <a:off x="1781663" y="3871285"/>
            <a:ext cx="943456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lg" w="lg" type="oval"/>
            <a:tailEnd len="lg" w="lg" type="oval"/>
          </a:ln>
        </p:spPr>
      </p:cxnSp>
      <p:grpSp>
        <p:nvGrpSpPr>
          <p:cNvPr id="130" name="Google Shape;130;p25"/>
          <p:cNvGrpSpPr/>
          <p:nvPr/>
        </p:nvGrpSpPr>
        <p:grpSpPr>
          <a:xfrm>
            <a:off x="696292" y="845732"/>
            <a:ext cx="1638840" cy="339898"/>
            <a:chOff x="0" y="0"/>
            <a:chExt cx="863257" cy="179041"/>
          </a:xfrm>
        </p:grpSpPr>
        <p:sp>
          <p:nvSpPr>
            <p:cNvPr id="131" name="Google Shape;131;p25"/>
            <p:cNvSpPr/>
            <p:nvPr/>
          </p:nvSpPr>
          <p:spPr>
            <a:xfrm>
              <a:off x="0" y="0"/>
              <a:ext cx="863257" cy="179041"/>
            </a:xfrm>
            <a:custGeom>
              <a:rect b="b" l="l" r="r" t="t"/>
              <a:pathLst>
                <a:path extrusionOk="0" h="179041" w="863257">
                  <a:moveTo>
                    <a:pt x="89520" y="0"/>
                  </a:moveTo>
                  <a:lnTo>
                    <a:pt x="773737" y="0"/>
                  </a:lnTo>
                  <a:cubicBezTo>
                    <a:pt x="823178" y="0"/>
                    <a:pt x="863257" y="40080"/>
                    <a:pt x="863257" y="89520"/>
                  </a:cubicBezTo>
                  <a:lnTo>
                    <a:pt x="863257" y="89520"/>
                  </a:lnTo>
                  <a:cubicBezTo>
                    <a:pt x="863257" y="138961"/>
                    <a:pt x="823178" y="179041"/>
                    <a:pt x="773737" y="179041"/>
                  </a:cubicBezTo>
                  <a:lnTo>
                    <a:pt x="89520" y="179041"/>
                  </a:lnTo>
                  <a:cubicBezTo>
                    <a:pt x="40080" y="179041"/>
                    <a:pt x="0" y="138961"/>
                    <a:pt x="0" y="89520"/>
                  </a:cubicBezTo>
                  <a:lnTo>
                    <a:pt x="0" y="89520"/>
                  </a:lnTo>
                  <a:cubicBezTo>
                    <a:pt x="0" y="40080"/>
                    <a:pt x="40080" y="0"/>
                    <a:pt x="895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5"/>
            <p:cNvSpPr txBox="1"/>
            <p:nvPr/>
          </p:nvSpPr>
          <p:spPr>
            <a:xfrm>
              <a:off x="0" y="19050"/>
              <a:ext cx="863257" cy="1599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3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25"/>
          <p:cNvSpPr/>
          <p:nvPr/>
        </p:nvSpPr>
        <p:spPr>
          <a:xfrm>
            <a:off x="777255" y="899683"/>
            <a:ext cx="239670" cy="231996"/>
          </a:xfrm>
          <a:custGeom>
            <a:rect b="b" l="l" r="r" t="t"/>
            <a:pathLst>
              <a:path extrusionOk="0" h="463992" w="479339">
                <a:moveTo>
                  <a:pt x="0" y="0"/>
                </a:moveTo>
                <a:lnTo>
                  <a:pt x="479340" y="0"/>
                </a:lnTo>
                <a:lnTo>
                  <a:pt x="479340" y="463992"/>
                </a:lnTo>
                <a:lnTo>
                  <a:pt x="0" y="4639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4" name="Google Shape;134;p25"/>
          <p:cNvSpPr/>
          <p:nvPr/>
        </p:nvSpPr>
        <p:spPr>
          <a:xfrm rot="5335883">
            <a:off x="3690371" y="3970712"/>
            <a:ext cx="840737" cy="1681473"/>
          </a:xfrm>
          <a:custGeom>
            <a:rect b="b" l="l" r="r" t="t"/>
            <a:pathLst>
              <a:path extrusionOk="0" h="3362946" w="1681473">
                <a:moveTo>
                  <a:pt x="0" y="0"/>
                </a:moveTo>
                <a:lnTo>
                  <a:pt x="1681473" y="0"/>
                </a:lnTo>
                <a:lnTo>
                  <a:pt x="1681473" y="3362945"/>
                </a:lnTo>
                <a:lnTo>
                  <a:pt x="0" y="33629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25"/>
          <p:cNvSpPr/>
          <p:nvPr/>
        </p:nvSpPr>
        <p:spPr>
          <a:xfrm>
            <a:off x="-216664" y="-602993"/>
            <a:ext cx="9360665" cy="5850416"/>
          </a:xfrm>
          <a:custGeom>
            <a:rect b="b" l="l" r="r" t="t"/>
            <a:pathLst>
              <a:path extrusionOk="0" h="11700831" w="18721329">
                <a:moveTo>
                  <a:pt x="0" y="0"/>
                </a:moveTo>
                <a:lnTo>
                  <a:pt x="18721329" y="0"/>
                </a:lnTo>
                <a:lnTo>
                  <a:pt x="18721329" y="11700830"/>
                </a:lnTo>
                <a:lnTo>
                  <a:pt x="0" y="117008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25"/>
          <p:cNvSpPr txBox="1"/>
          <p:nvPr/>
        </p:nvSpPr>
        <p:spPr>
          <a:xfrm>
            <a:off x="4369577" y="926956"/>
            <a:ext cx="4186500" cy="18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7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FINAL PROJECT PRESENTATION</a:t>
            </a:r>
            <a:endParaRPr sz="700"/>
          </a:p>
        </p:txBody>
      </p:sp>
      <p:sp>
        <p:nvSpPr>
          <p:cNvPr id="137" name="Google Shape;137;p25"/>
          <p:cNvSpPr txBox="1"/>
          <p:nvPr/>
        </p:nvSpPr>
        <p:spPr>
          <a:xfrm>
            <a:off x="4369577" y="2655084"/>
            <a:ext cx="3673284" cy="1459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EEG-Based Modeling of Cognitive State and Workload in an Architectural Design </a:t>
            </a:r>
            <a:endParaRPr sz="700"/>
          </a:p>
          <a:p>
            <a:pPr indent="0" lvl="0" marL="0" marR="0" rtl="0" algn="l">
              <a:lnSpc>
                <a:spcPct val="11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Rachel, Touhid, Yao</a:t>
            </a:r>
            <a:endParaRPr sz="700"/>
          </a:p>
          <a:p>
            <a:pPr indent="0" lvl="0" marL="0" marR="0" rtl="0" algn="l">
              <a:lnSpc>
                <a:spcPct val="11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DS 5006 Spring 2026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idx="4294967295"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Project Background and Research Goal</a:t>
            </a:r>
            <a:endParaRPr sz="2500"/>
          </a:p>
        </p:txBody>
      </p:sp>
      <p:pic>
        <p:nvPicPr>
          <p:cNvPr id="143" name="Google Shape;143;p26" title="ChatGPT Image Apr 22, 2026, 12_49_19 PM.png"/>
          <p:cNvPicPr preferRelativeResize="0"/>
          <p:nvPr/>
        </p:nvPicPr>
        <p:blipFill rotWithShape="1">
          <a:blip r:embed="rId3">
            <a:alphaModFix/>
          </a:blip>
          <a:srcRect b="0" l="0" r="0" t="76742"/>
          <a:stretch/>
        </p:blipFill>
        <p:spPr>
          <a:xfrm>
            <a:off x="137825" y="4097799"/>
            <a:ext cx="8868351" cy="116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6" title="ChatGPT Image Apr 22, 2026, 12_49_19 PM.png"/>
          <p:cNvPicPr preferRelativeResize="0"/>
          <p:nvPr/>
        </p:nvPicPr>
        <p:blipFill rotWithShape="1">
          <a:blip r:embed="rId3">
            <a:alphaModFix/>
          </a:blip>
          <a:srcRect b="22549" l="0" r="35338" t="7982"/>
          <a:stretch/>
        </p:blipFill>
        <p:spPr>
          <a:xfrm>
            <a:off x="1830025" y="664600"/>
            <a:ext cx="5526524" cy="334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idx="4294967295"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Experimental Procedure and Data</a:t>
            </a:r>
            <a:endParaRPr sz="2500"/>
          </a:p>
        </p:txBody>
      </p:sp>
      <p:sp>
        <p:nvSpPr>
          <p:cNvPr id="150" name="Google Shape;150;p27"/>
          <p:cNvSpPr txBox="1"/>
          <p:nvPr/>
        </p:nvSpPr>
        <p:spPr>
          <a:xfrm>
            <a:off x="0" y="3418454"/>
            <a:ext cx="91440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600"/>
              <a:t>t</a:t>
            </a:r>
            <a:r>
              <a:rPr lang="en" sz="1600"/>
              <a:t>wo  phases: Task1 (</a:t>
            </a:r>
            <a:r>
              <a:rPr lang="en" sz="1600">
                <a:solidFill>
                  <a:schemeClr val="dk1"/>
                </a:solidFill>
              </a:rPr>
              <a:t>brain-only/30min)</a:t>
            </a:r>
            <a:r>
              <a:rPr lang="en" sz="1600"/>
              <a:t>, Task2 (</a:t>
            </a:r>
            <a:r>
              <a:rPr lang="en" sz="1600">
                <a:solidFill>
                  <a:schemeClr val="dk1"/>
                </a:solidFill>
              </a:rPr>
              <a:t>either conventional search or GenAI-assisted revision/30min</a:t>
            </a:r>
            <a:r>
              <a:rPr lang="en" sz="1600"/>
              <a:t>)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/>
              <a:t>Participants: 34</a:t>
            </a:r>
            <a:endParaRPr sz="16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600"/>
              <a:t>EEG recorded with 16 wet electrodes at 500 Hz</a:t>
            </a:r>
            <a:endParaRPr sz="16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600"/>
              <a:t>Coverage: frontal, central, and parietal regions</a:t>
            </a:r>
            <a:endParaRPr sz="16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600"/>
              <a:t>Post-task self-report survey used to capture subjective workload</a:t>
            </a:r>
            <a:endParaRPr sz="1600"/>
          </a:p>
        </p:txBody>
      </p:sp>
      <p:pic>
        <p:nvPicPr>
          <p:cNvPr id="151" name="Google Shape;15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8255"/>
            <a:ext cx="4787962" cy="279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6325" y="599205"/>
            <a:ext cx="3857675" cy="2730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idx="4294967295"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EEG Preprocessing and Feature Extraction</a:t>
            </a:r>
            <a:endParaRPr sz="2500"/>
          </a:p>
        </p:txBody>
      </p:sp>
      <p:sp>
        <p:nvSpPr>
          <p:cNvPr id="158" name="Google Shape;158;p28"/>
          <p:cNvSpPr txBox="1"/>
          <p:nvPr/>
        </p:nvSpPr>
        <p:spPr>
          <a:xfrm>
            <a:off x="0" y="3498075"/>
            <a:ext cx="91440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600"/>
              <a:t>Remove first 2 s, notch filter at 60 Hz</a:t>
            </a:r>
            <a:endParaRPr sz="16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600"/>
              <a:t>RANSAC bad-channel detection, average reference</a:t>
            </a:r>
            <a:endParaRPr sz="16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600"/>
              <a:t>Bandpass filter: 0.5–44 Hz</a:t>
            </a:r>
            <a:endParaRPr sz="16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600"/>
              <a:t>ICA + ICLabel for artifact removal</a:t>
            </a:r>
            <a:endParaRPr sz="16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600"/>
              <a:t>Extract PSD, RMS, variance, and time–frequency features (261 features)</a:t>
            </a:r>
            <a:endParaRPr sz="1600"/>
          </a:p>
        </p:txBody>
      </p:sp>
      <p:pic>
        <p:nvPicPr>
          <p:cNvPr id="159" name="Google Shape;159;p28" title="id78_triptych_detail_2340.0-2360.0s_excl2.png"/>
          <p:cNvPicPr preferRelativeResize="0"/>
          <p:nvPr/>
        </p:nvPicPr>
        <p:blipFill rotWithShape="1">
          <a:blip r:embed="rId3">
            <a:alphaModFix/>
          </a:blip>
          <a:srcRect b="0" l="0" r="0" t="7724"/>
          <a:stretch/>
        </p:blipFill>
        <p:spPr>
          <a:xfrm>
            <a:off x="-373520" y="499725"/>
            <a:ext cx="4875146" cy="299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572700"/>
            <a:ext cx="4572000" cy="2573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>
            <p:ph idx="4294967295" type="title"/>
          </p:nvPr>
        </p:nvSpPr>
        <p:spPr>
          <a:xfrm>
            <a:off x="0" y="0"/>
            <a:ext cx="91440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Modeling Tasks: Classification and Regression</a:t>
            </a:r>
            <a:endParaRPr sz="2500"/>
          </a:p>
        </p:txBody>
      </p:sp>
      <p:sp>
        <p:nvSpPr>
          <p:cNvPr id="166" name="Google Shape;166;p29"/>
          <p:cNvSpPr txBox="1"/>
          <p:nvPr/>
        </p:nvSpPr>
        <p:spPr>
          <a:xfrm>
            <a:off x="0" y="715200"/>
            <a:ext cx="9144000" cy="3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Task 1: Classification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Predict the </a:t>
            </a:r>
            <a:r>
              <a:rPr b="1" lang="en" sz="1800">
                <a:solidFill>
                  <a:schemeClr val="dk1"/>
                </a:solidFill>
              </a:rPr>
              <a:t>experimental condition</a:t>
            </a:r>
            <a:r>
              <a:rPr lang="en" sz="1800">
                <a:solidFill>
                  <a:schemeClr val="dk1"/>
                </a:solidFill>
              </a:rPr>
              <a:t> from EEG features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Main goal: test whether neural features can </a:t>
            </a:r>
            <a:r>
              <a:rPr b="1" lang="en" sz="1800">
                <a:solidFill>
                  <a:schemeClr val="dk1"/>
                </a:solidFill>
              </a:rPr>
              <a:t>differentiate different design conditions</a:t>
            </a:r>
            <a:r>
              <a:rPr lang="en" sz="1800">
                <a:solidFill>
                  <a:schemeClr val="dk1"/>
                </a:solidFill>
              </a:rPr>
              <a:t>.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This helps evaluate whether design modes produce </a:t>
            </a:r>
            <a:r>
              <a:rPr b="1" lang="en" sz="1800">
                <a:solidFill>
                  <a:schemeClr val="dk1"/>
                </a:solidFill>
              </a:rPr>
              <a:t>distinct cognitive states</a:t>
            </a:r>
            <a:r>
              <a:rPr lang="en" sz="1800">
                <a:solidFill>
                  <a:schemeClr val="dk1"/>
                </a:solidFill>
              </a:rPr>
              <a:t> at the neural level.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Task 2: Regression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Predict </a:t>
            </a:r>
            <a:r>
              <a:rPr b="1" lang="en" sz="1800">
                <a:solidFill>
                  <a:schemeClr val="dk1"/>
                </a:solidFill>
              </a:rPr>
              <a:t>average workload scores</a:t>
            </a:r>
            <a:r>
              <a:rPr lang="en" sz="1800">
                <a:solidFill>
                  <a:schemeClr val="dk1"/>
                </a:solidFill>
              </a:rPr>
              <a:t> from EEG features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Main goal: examine whether EEG can provide an </a:t>
            </a:r>
            <a:r>
              <a:rPr b="1" lang="en" sz="1800">
                <a:solidFill>
                  <a:schemeClr val="dk1"/>
                </a:solidFill>
              </a:rPr>
              <a:t>objective estimate of average workload</a:t>
            </a:r>
            <a:r>
              <a:rPr lang="en" sz="1800">
                <a:solidFill>
                  <a:schemeClr val="dk1"/>
                </a:solidFill>
              </a:rPr>
              <a:t> during architectural design.</a:t>
            </a:r>
            <a:endParaRPr sz="2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1: Classification</a:t>
            </a:r>
            <a:endParaRPr/>
          </a:p>
        </p:txBody>
      </p:sp>
      <p:sp>
        <p:nvSpPr>
          <p:cNvPr id="172" name="Google Shape;172;p30"/>
          <p:cNvSpPr txBox="1"/>
          <p:nvPr/>
        </p:nvSpPr>
        <p:spPr>
          <a:xfrm>
            <a:off x="2545800" y="3212575"/>
            <a:ext cx="65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This was VERY frustrating data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/>
        </p:nvSpPr>
        <p:spPr>
          <a:xfrm>
            <a:off x="5371785" y="1016178"/>
            <a:ext cx="3779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74650" lIns="74650" spcFirstLastPara="1" rIns="74650" wrap="square" tIns="74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70">
                <a:solidFill>
                  <a:schemeClr val="dk1"/>
                </a:solidFill>
              </a:rPr>
              <a:t>P3, P27, P40, P72 (both task 1 and 2)</a:t>
            </a:r>
            <a:endParaRPr b="1" sz="1470">
              <a:solidFill>
                <a:schemeClr val="dk1"/>
              </a:solidFill>
            </a:endParaRPr>
          </a:p>
        </p:txBody>
      </p:sp>
      <p:pic>
        <p:nvPicPr>
          <p:cNvPr id="178" name="Google Shape;178;p31" title="safe.png"/>
          <p:cNvPicPr preferRelativeResize="0"/>
          <p:nvPr/>
        </p:nvPicPr>
        <p:blipFill rotWithShape="1">
          <a:blip r:embed="rId3">
            <a:alphaModFix/>
          </a:blip>
          <a:srcRect b="16784" l="9188" r="4702" t="26668"/>
          <a:stretch/>
        </p:blipFill>
        <p:spPr>
          <a:xfrm>
            <a:off x="4894476" y="1828462"/>
            <a:ext cx="2551453" cy="223404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1"/>
          <p:cNvSpPr/>
          <p:nvPr/>
        </p:nvSpPr>
        <p:spPr>
          <a:xfrm>
            <a:off x="5730685" y="1443467"/>
            <a:ext cx="726600" cy="359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7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50" lIns="74650" spcFirstLastPara="1" rIns="74650" wrap="square" tIns="74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3"/>
          </a:p>
        </p:txBody>
      </p:sp>
      <p:sp>
        <p:nvSpPr>
          <p:cNvPr id="180" name="Google Shape;180;p31"/>
          <p:cNvSpPr/>
          <p:nvPr/>
        </p:nvSpPr>
        <p:spPr>
          <a:xfrm>
            <a:off x="799926" y="1203628"/>
            <a:ext cx="3349200" cy="124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100%</a:t>
            </a:r>
            <a:endParaRPr/>
          </a:p>
        </p:txBody>
      </p:sp>
      <p:sp>
        <p:nvSpPr>
          <p:cNvPr id="181" name="Google Shape;181;p31"/>
          <p:cNvSpPr/>
          <p:nvPr/>
        </p:nvSpPr>
        <p:spPr>
          <a:xfrm>
            <a:off x="503776" y="3147403"/>
            <a:ext cx="2853000" cy="1241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89% for training and testing</a:t>
            </a:r>
            <a:endParaRPr/>
          </a:p>
        </p:txBody>
      </p:sp>
      <p:sp>
        <p:nvSpPr>
          <p:cNvPr id="182" name="Google Shape;182;p31"/>
          <p:cNvSpPr/>
          <p:nvPr/>
        </p:nvSpPr>
        <p:spPr>
          <a:xfrm>
            <a:off x="1061601" y="2482028"/>
            <a:ext cx="441000" cy="62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1"/>
          <p:cNvSpPr/>
          <p:nvPr/>
        </p:nvSpPr>
        <p:spPr>
          <a:xfrm rot="-3463565">
            <a:off x="4308563" y="2246560"/>
            <a:ext cx="441038" cy="620393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1"/>
          <p:cNvSpPr txBox="1"/>
          <p:nvPr>
            <p:ph idx="4294967295" type="title"/>
          </p:nvPr>
        </p:nvSpPr>
        <p:spPr>
          <a:xfrm>
            <a:off x="311701" y="362784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safe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Leakage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GroupKfold cross validation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(Also scale for ridge and lasso)</a:t>
            </a:r>
            <a:endParaRPr/>
          </a:p>
        </p:txBody>
      </p:sp>
      <p:sp>
        <p:nvSpPr>
          <p:cNvPr id="191" name="Google Shape;191;p32"/>
          <p:cNvSpPr/>
          <p:nvPr/>
        </p:nvSpPr>
        <p:spPr>
          <a:xfrm>
            <a:off x="2253450" y="2394896"/>
            <a:ext cx="3495900" cy="426000"/>
          </a:xfrm>
          <a:prstGeom prst="rect">
            <a:avLst/>
          </a:prstGeom>
          <a:solidFill>
            <a:srgbClr val="5981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2"/>
          <p:cNvSpPr/>
          <p:nvPr/>
        </p:nvSpPr>
        <p:spPr>
          <a:xfrm>
            <a:off x="5749350" y="2394896"/>
            <a:ext cx="1141200" cy="426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P1</a:t>
            </a:r>
            <a:endParaRPr/>
          </a:p>
        </p:txBody>
      </p:sp>
      <p:sp>
        <p:nvSpPr>
          <p:cNvPr id="193" name="Google Shape;193;p32"/>
          <p:cNvSpPr/>
          <p:nvPr/>
        </p:nvSpPr>
        <p:spPr>
          <a:xfrm>
            <a:off x="2253450" y="3326871"/>
            <a:ext cx="4637100" cy="426000"/>
          </a:xfrm>
          <a:prstGeom prst="rect">
            <a:avLst/>
          </a:prstGeom>
          <a:solidFill>
            <a:srgbClr val="5981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                        P1</a:t>
            </a:r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4608150" y="3326871"/>
            <a:ext cx="1141200" cy="426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2"/>
          <p:cNvSpPr/>
          <p:nvPr/>
        </p:nvSpPr>
        <p:spPr>
          <a:xfrm>
            <a:off x="2253450" y="4194546"/>
            <a:ext cx="4637100" cy="426000"/>
          </a:xfrm>
          <a:prstGeom prst="rect">
            <a:avLst/>
          </a:prstGeom>
          <a:solidFill>
            <a:srgbClr val="5981A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2"/>
          <p:cNvSpPr/>
          <p:nvPr/>
        </p:nvSpPr>
        <p:spPr>
          <a:xfrm>
            <a:off x="3466950" y="4194546"/>
            <a:ext cx="1141200" cy="4260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2"/>
          <p:cNvSpPr txBox="1"/>
          <p:nvPr/>
        </p:nvSpPr>
        <p:spPr>
          <a:xfrm>
            <a:off x="6114275" y="3339771"/>
            <a:ext cx="429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8" name="Google Shape;198;p32"/>
          <p:cNvSpPr txBox="1"/>
          <p:nvPr/>
        </p:nvSpPr>
        <p:spPr>
          <a:xfrm>
            <a:off x="2751750" y="4207446"/>
            <a:ext cx="57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1: Logistic Regression with Lasso</a:t>
            </a:r>
            <a:endParaRPr/>
          </a:p>
        </p:txBody>
      </p:sp>
      <p:sp>
        <p:nvSpPr>
          <p:cNvPr id="204" name="Google Shape;204;p33"/>
          <p:cNvSpPr txBox="1"/>
          <p:nvPr>
            <p:ph idx="1" type="body"/>
          </p:nvPr>
        </p:nvSpPr>
        <p:spPr>
          <a:xfrm>
            <a:off x="190800" y="1174900"/>
            <a:ext cx="309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Categorical Problem: Can we distinguish between brain only, chatgpt, and search?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Lasso to penalize some terms to zero (have 172)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Training accuracy= 50%, testing accuracy= 50% (slightly better than random, 33% but still just guessing)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Strong penalty: lambda=21.5</a:t>
            </a:r>
            <a:endParaRPr/>
          </a:p>
        </p:txBody>
      </p:sp>
      <p:sp>
        <p:nvSpPr>
          <p:cNvPr id="205" name="Google Shape;205;p33"/>
          <p:cNvSpPr/>
          <p:nvPr/>
        </p:nvSpPr>
        <p:spPr>
          <a:xfrm>
            <a:off x="6083800" y="2989650"/>
            <a:ext cx="289200" cy="667200"/>
          </a:xfrm>
          <a:prstGeom prst="rect">
            <a:avLst/>
          </a:prstGeom>
          <a:noFill/>
          <a:ln cap="flat" cmpd="sng" w="9525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3"/>
          <p:cNvPicPr preferRelativeResize="0"/>
          <p:nvPr/>
        </p:nvPicPr>
        <p:blipFill rotWithShape="1">
          <a:blip r:embed="rId3">
            <a:alphaModFix/>
          </a:blip>
          <a:srcRect b="0" l="0" r="0" t="2676"/>
          <a:stretch/>
        </p:blipFill>
        <p:spPr>
          <a:xfrm>
            <a:off x="3286800" y="1174900"/>
            <a:ext cx="5545500" cy="3757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Model 1: Logistic Regression with Lasso is Guessing</a:t>
            </a:r>
            <a:endParaRPr/>
          </a:p>
        </p:txBody>
      </p:sp>
      <p:pic>
        <p:nvPicPr>
          <p:cNvPr id="212" name="Google Shape;21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9124" y="1152475"/>
            <a:ext cx="4433400" cy="36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2: Logistic Regression with Limit on Pentalty</a:t>
            </a:r>
            <a:endParaRPr/>
          </a:p>
        </p:txBody>
      </p:sp>
      <p:pic>
        <p:nvPicPr>
          <p:cNvPr id="218" name="Google Shape;21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4978" y="1074272"/>
            <a:ext cx="4059172" cy="32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5"/>
          <p:cNvSpPr txBox="1"/>
          <p:nvPr>
            <p:ph type="title"/>
          </p:nvPr>
        </p:nvSpPr>
        <p:spPr>
          <a:xfrm>
            <a:off x="100043" y="438937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No longer randomly guessing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Keeps 24 features, 76.7% training accuracy, 45% testing accuracy</a:t>
            </a:r>
            <a:endParaRPr sz="2000"/>
          </a:p>
        </p:txBody>
      </p:sp>
      <p:pic>
        <p:nvPicPr>
          <p:cNvPr id="220" name="Google Shape;220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855" y="1012459"/>
            <a:ext cx="3858896" cy="34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Model 2: Interesting Information</a:t>
            </a:r>
            <a:endParaRPr/>
          </a:p>
        </p:txBody>
      </p:sp>
      <p:pic>
        <p:nvPicPr>
          <p:cNvPr id="226" name="Google Shape;22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1500"/>
            <a:ext cx="8839203" cy="290880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6"/>
          <p:cNvSpPr txBox="1"/>
          <p:nvPr/>
        </p:nvSpPr>
        <p:spPr>
          <a:xfrm>
            <a:off x="424700" y="4204807"/>
            <a:ext cx="65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(ɑ+Θ)/β high for chatgpt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28" name="Google Shape;228;p36"/>
          <p:cNvSpPr txBox="1"/>
          <p:nvPr/>
        </p:nvSpPr>
        <p:spPr>
          <a:xfrm>
            <a:off x="3508825" y="4204807"/>
            <a:ext cx="260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Central rel </a:t>
            </a:r>
            <a:r>
              <a:rPr lang="en" sz="1800">
                <a:solidFill>
                  <a:schemeClr val="dk1"/>
                </a:solidFill>
              </a:rPr>
              <a:t>β slope high for brain only outliers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29" name="Google Shape;229;p36"/>
          <p:cNvSpPr txBox="1"/>
          <p:nvPr/>
        </p:nvSpPr>
        <p:spPr>
          <a:xfrm>
            <a:off x="6690525" y="4204807"/>
            <a:ext cx="260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Central mean freq β slope low for search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domain knowledge</a:t>
            </a:r>
            <a:endParaRPr/>
          </a:p>
        </p:txBody>
      </p:sp>
      <p:sp>
        <p:nvSpPr>
          <p:cNvPr id="235" name="Google Shape;235;p37"/>
          <p:cNvSpPr txBox="1"/>
          <p:nvPr>
            <p:ph idx="1" type="body"/>
          </p:nvPr>
        </p:nvSpPr>
        <p:spPr>
          <a:xfrm>
            <a:off x="311700" y="1176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Higher theta/beta band ratio (TBR) is closely associated with lower attentional function [1]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Higher (alpha+theta)/beta  more sleepy/relaxed [2]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Frontal alpha </a:t>
            </a:r>
            <a:r>
              <a:rPr lang="en" sz="1600">
                <a:solidFill>
                  <a:schemeClr val="dk1"/>
                </a:solidFill>
              </a:rPr>
              <a:t>asymmetry (</a:t>
            </a:r>
            <a:r>
              <a:rPr lang="en" sz="1600">
                <a:solidFill>
                  <a:schemeClr val="dk1"/>
                </a:solidFill>
              </a:rPr>
              <a:t>log(alpha power at Right front) – log(alpha power at Left front)) - Higher is </a:t>
            </a:r>
            <a:r>
              <a:rPr lang="en" sz="1600">
                <a:solidFill>
                  <a:schemeClr val="dk1"/>
                </a:solidFill>
              </a:rPr>
              <a:t>approach</a:t>
            </a:r>
            <a:r>
              <a:rPr lang="en" sz="1600">
                <a:solidFill>
                  <a:schemeClr val="dk1"/>
                </a:solidFill>
              </a:rPr>
              <a:t> behaviors (anger, optimism), negative is </a:t>
            </a:r>
            <a:r>
              <a:rPr lang="en" sz="1600">
                <a:solidFill>
                  <a:schemeClr val="dk1"/>
                </a:solidFill>
              </a:rPr>
              <a:t>withdrawals</a:t>
            </a:r>
            <a:r>
              <a:rPr lang="en" sz="1600">
                <a:solidFill>
                  <a:schemeClr val="dk1"/>
                </a:solidFill>
              </a:rPr>
              <a:t> behaviors (depression, anxiety) [3]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F1F1F"/>
                </a:solidFill>
                <a:highlight>
                  <a:srgbClr val="FFFFFF"/>
                </a:highlight>
              </a:rPr>
              <a:t>Including mean frequency, absolute power, and relative power for classification of resting and working memory states [4] </a:t>
            </a:r>
            <a:endParaRPr sz="16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Can be region specific as well (front, central, back)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(Now 68 features)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1F1F1F"/>
              </a:solidFill>
              <a:highlight>
                <a:srgbClr val="FFF2BA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Removing redundant information</a:t>
            </a:r>
            <a:endParaRPr/>
          </a:p>
        </p:txBody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Reduced to 38 features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42" name="Google Shape;24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850" y="935100"/>
            <a:ext cx="4667100" cy="406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is Best but there is Data Leakage</a:t>
            </a:r>
            <a:endParaRPr/>
          </a:p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118825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Training accuracy: 100% Testing 53.3%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Top three features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Parietal_ratio_theta_beta_slope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Central_meanfreq_total_slope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frontal_ratio_theta_beta_slope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49" name="Google Shape;24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1574" y="1513975"/>
            <a:ext cx="3386724" cy="2844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we need: Simple trees in a simple forest</a:t>
            </a:r>
            <a:endParaRPr/>
          </a:p>
        </p:txBody>
      </p:sp>
      <p:sp>
        <p:nvSpPr>
          <p:cNvPr id="255" name="Google Shape;255;p40"/>
          <p:cNvSpPr txBox="1"/>
          <p:nvPr>
            <p:ph idx="1" type="body"/>
          </p:nvPr>
        </p:nvSpPr>
        <p:spPr>
          <a:xfrm>
            <a:off x="311700" y="1176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Likely</a:t>
            </a:r>
            <a:r>
              <a:rPr lang="en"/>
              <a:t> memorizing participants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Lower max depth to 2, ensure uses minimum of five samples per leaf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Training error 89.2%, testing 53.3%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0"/>
          <p:cNvSpPr/>
          <p:nvPr/>
        </p:nvSpPr>
        <p:spPr>
          <a:xfrm>
            <a:off x="4211226" y="2869100"/>
            <a:ext cx="11010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0"/>
          <p:cNvSpPr/>
          <p:nvPr/>
        </p:nvSpPr>
        <p:spPr>
          <a:xfrm>
            <a:off x="3326901" y="3608200"/>
            <a:ext cx="11010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0"/>
          <p:cNvSpPr/>
          <p:nvPr/>
        </p:nvSpPr>
        <p:spPr>
          <a:xfrm>
            <a:off x="5030376" y="3608200"/>
            <a:ext cx="11010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0"/>
          <p:cNvSpPr/>
          <p:nvPr/>
        </p:nvSpPr>
        <p:spPr>
          <a:xfrm>
            <a:off x="1767176" y="4436275"/>
            <a:ext cx="11010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0"/>
          <p:cNvSpPr/>
          <p:nvPr/>
        </p:nvSpPr>
        <p:spPr>
          <a:xfrm>
            <a:off x="3326901" y="4436275"/>
            <a:ext cx="11010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0"/>
          <p:cNvSpPr/>
          <p:nvPr/>
        </p:nvSpPr>
        <p:spPr>
          <a:xfrm>
            <a:off x="4957476" y="4423825"/>
            <a:ext cx="11010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0"/>
          <p:cNvSpPr/>
          <p:nvPr/>
        </p:nvSpPr>
        <p:spPr>
          <a:xfrm>
            <a:off x="6517201" y="4423825"/>
            <a:ext cx="1101000" cy="45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40"/>
          <p:cNvCxnSpPr>
            <a:stCxn id="256" idx="2"/>
            <a:endCxn id="257" idx="0"/>
          </p:cNvCxnSpPr>
          <p:nvPr/>
        </p:nvCxnSpPr>
        <p:spPr>
          <a:xfrm flipH="1">
            <a:off x="3877326" y="3327200"/>
            <a:ext cx="884400" cy="28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40"/>
          <p:cNvCxnSpPr>
            <a:stCxn id="257" idx="2"/>
            <a:endCxn id="259" idx="0"/>
          </p:cNvCxnSpPr>
          <p:nvPr/>
        </p:nvCxnSpPr>
        <p:spPr>
          <a:xfrm flipH="1">
            <a:off x="2317701" y="4066300"/>
            <a:ext cx="1559700" cy="36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40"/>
          <p:cNvCxnSpPr>
            <a:stCxn id="257" idx="2"/>
            <a:endCxn id="260" idx="0"/>
          </p:cNvCxnSpPr>
          <p:nvPr/>
        </p:nvCxnSpPr>
        <p:spPr>
          <a:xfrm>
            <a:off x="3877401" y="4066300"/>
            <a:ext cx="0" cy="36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40"/>
          <p:cNvCxnSpPr>
            <a:stCxn id="256" idx="2"/>
            <a:endCxn id="258" idx="0"/>
          </p:cNvCxnSpPr>
          <p:nvPr/>
        </p:nvCxnSpPr>
        <p:spPr>
          <a:xfrm>
            <a:off x="4761726" y="3327200"/>
            <a:ext cx="819000" cy="28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7" name="Google Shape;267;p40"/>
          <p:cNvCxnSpPr>
            <a:stCxn id="258" idx="2"/>
            <a:endCxn id="261" idx="0"/>
          </p:cNvCxnSpPr>
          <p:nvPr/>
        </p:nvCxnSpPr>
        <p:spPr>
          <a:xfrm flipH="1">
            <a:off x="5507976" y="4066300"/>
            <a:ext cx="72900" cy="35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8" name="Google Shape;268;p40"/>
          <p:cNvCxnSpPr/>
          <p:nvPr/>
        </p:nvCxnSpPr>
        <p:spPr>
          <a:xfrm>
            <a:off x="5580726" y="4066300"/>
            <a:ext cx="1421700" cy="35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 feature engineering and selection</a:t>
            </a:r>
            <a:endParaRPr/>
          </a:p>
        </p:txBody>
      </p:sp>
      <p:sp>
        <p:nvSpPr>
          <p:cNvPr id="274" name="Google Shape;27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Can we feature engineer for better performance (PCA)?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Region specific?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Chat gpt vs others?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Lets start with PCA</a:t>
            </a:r>
            <a:endParaRPr/>
          </a:p>
        </p:txBody>
      </p:sp>
      <p:pic>
        <p:nvPicPr>
          <p:cNvPr id="280" name="Google Shape;28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8325" y="1017725"/>
            <a:ext cx="693616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 Plots</a:t>
            </a:r>
            <a:endParaRPr/>
          </a:p>
        </p:txBody>
      </p:sp>
      <p:sp>
        <p:nvSpPr>
          <p:cNvPr id="286" name="Google Shape;28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Training: 85.4%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Testing: 46.7%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PC1, larger values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Chatgpt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PC1 has lots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central data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PC2 has lots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frontal data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endParaRPr/>
          </a:p>
        </p:txBody>
      </p:sp>
      <p:pic>
        <p:nvPicPr>
          <p:cNvPr id="287" name="Google Shape;287;p43"/>
          <p:cNvPicPr preferRelativeResize="0"/>
          <p:nvPr/>
        </p:nvPicPr>
        <p:blipFill rotWithShape="1">
          <a:blip r:embed="rId3">
            <a:alphaModFix/>
          </a:blip>
          <a:srcRect b="0" l="0" r="0" t="4224"/>
          <a:stretch/>
        </p:blipFill>
        <p:spPr>
          <a:xfrm>
            <a:off x="2037275" y="108738"/>
            <a:ext cx="7052750" cy="492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 for illustration</a:t>
            </a:r>
            <a:endParaRPr/>
          </a:p>
        </p:txBody>
      </p:sp>
      <p:pic>
        <p:nvPicPr>
          <p:cNvPr id="293" name="Google Shape;293;p44"/>
          <p:cNvPicPr preferRelativeResize="0"/>
          <p:nvPr/>
        </p:nvPicPr>
        <p:blipFill rotWithShape="1">
          <a:blip r:embed="rId3">
            <a:alphaModFix/>
          </a:blip>
          <a:srcRect b="4535" l="3775" r="17571" t="6545"/>
          <a:stretch/>
        </p:blipFill>
        <p:spPr>
          <a:xfrm>
            <a:off x="4090245" y="937005"/>
            <a:ext cx="4912776" cy="3878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44"/>
          <p:cNvSpPr/>
          <p:nvPr/>
        </p:nvSpPr>
        <p:spPr>
          <a:xfrm>
            <a:off x="1713908" y="1444435"/>
            <a:ext cx="1213500" cy="572700"/>
          </a:xfrm>
          <a:prstGeom prst="roundRect">
            <a:avLst>
              <a:gd fmla="val 16667" name="adj"/>
            </a:avLst>
          </a:prstGeom>
          <a:solidFill>
            <a:srgbClr val="909D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PC3&lt;2.09</a:t>
            </a:r>
            <a:endParaRPr/>
          </a:p>
        </p:txBody>
      </p:sp>
      <p:sp>
        <p:nvSpPr>
          <p:cNvPr id="295" name="Google Shape;295;p44"/>
          <p:cNvSpPr/>
          <p:nvPr/>
        </p:nvSpPr>
        <p:spPr>
          <a:xfrm>
            <a:off x="2385058" y="2466632"/>
            <a:ext cx="1213500" cy="572700"/>
          </a:xfrm>
          <a:prstGeom prst="roundRect">
            <a:avLst>
              <a:gd fmla="val 16667" name="adj"/>
            </a:avLst>
          </a:prstGeom>
          <a:solidFill>
            <a:srgbClr val="F6C38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Chatgpt (8.3%)</a:t>
            </a:r>
            <a:endParaRPr/>
          </a:p>
        </p:txBody>
      </p:sp>
      <p:sp>
        <p:nvSpPr>
          <p:cNvPr id="296" name="Google Shape;296;p44"/>
          <p:cNvSpPr/>
          <p:nvPr/>
        </p:nvSpPr>
        <p:spPr>
          <a:xfrm>
            <a:off x="796783" y="2462420"/>
            <a:ext cx="1213500" cy="572700"/>
          </a:xfrm>
          <a:prstGeom prst="roundRect">
            <a:avLst>
              <a:gd fmla="val 16667" name="adj"/>
            </a:avLst>
          </a:prstGeom>
          <a:solidFill>
            <a:srgbClr val="909D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PC6&lt;2.05</a:t>
            </a:r>
            <a:endParaRPr/>
          </a:p>
        </p:txBody>
      </p:sp>
      <p:sp>
        <p:nvSpPr>
          <p:cNvPr id="297" name="Google Shape;297;p44"/>
          <p:cNvSpPr/>
          <p:nvPr/>
        </p:nvSpPr>
        <p:spPr>
          <a:xfrm>
            <a:off x="1826933" y="3480407"/>
            <a:ext cx="1213500" cy="572700"/>
          </a:xfrm>
          <a:prstGeom prst="roundRect">
            <a:avLst>
              <a:gd fmla="val 16667" name="adj"/>
            </a:avLst>
          </a:prstGeom>
          <a:solidFill>
            <a:srgbClr val="F6C38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Chatgpt (11.7%)</a:t>
            </a:r>
            <a:endParaRPr/>
          </a:p>
        </p:txBody>
      </p:sp>
      <p:sp>
        <p:nvSpPr>
          <p:cNvPr id="298" name="Google Shape;298;p44"/>
          <p:cNvSpPr/>
          <p:nvPr/>
        </p:nvSpPr>
        <p:spPr>
          <a:xfrm>
            <a:off x="226483" y="3480407"/>
            <a:ext cx="1213500" cy="5727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(80%)</a:t>
            </a:r>
            <a:endParaRPr/>
          </a:p>
        </p:txBody>
      </p:sp>
      <p:pic>
        <p:nvPicPr>
          <p:cNvPr id="299" name="Google Shape;299;p44"/>
          <p:cNvPicPr preferRelativeResize="0"/>
          <p:nvPr/>
        </p:nvPicPr>
        <p:blipFill rotWithShape="1">
          <a:blip r:embed="rId3">
            <a:alphaModFix/>
          </a:blip>
          <a:srcRect b="77842" l="85671" r="0" t="6545"/>
          <a:stretch/>
        </p:blipFill>
        <p:spPr>
          <a:xfrm>
            <a:off x="7356300" y="92577"/>
            <a:ext cx="1679000" cy="12776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44"/>
          <p:cNvSpPr txBox="1"/>
          <p:nvPr/>
        </p:nvSpPr>
        <p:spPr>
          <a:xfrm>
            <a:off x="6659368" y="4728544"/>
            <a:ext cx="323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PC3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01" name="Google Shape;301;p44"/>
          <p:cNvSpPr txBox="1"/>
          <p:nvPr/>
        </p:nvSpPr>
        <p:spPr>
          <a:xfrm rot="-5400000">
            <a:off x="2422968" y="1158194"/>
            <a:ext cx="3234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PC6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302" name="Google Shape;302;p44"/>
          <p:cNvCxnSpPr>
            <a:stCxn id="294" idx="2"/>
            <a:endCxn id="296" idx="0"/>
          </p:cNvCxnSpPr>
          <p:nvPr/>
        </p:nvCxnSpPr>
        <p:spPr>
          <a:xfrm flipH="1">
            <a:off x="1403558" y="2017135"/>
            <a:ext cx="917100" cy="44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" name="Google Shape;303;p44"/>
          <p:cNvCxnSpPr>
            <a:stCxn id="294" idx="2"/>
            <a:endCxn id="295" idx="0"/>
          </p:cNvCxnSpPr>
          <p:nvPr/>
        </p:nvCxnSpPr>
        <p:spPr>
          <a:xfrm>
            <a:off x="2320658" y="2017135"/>
            <a:ext cx="671100" cy="449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4" name="Google Shape;304;p44"/>
          <p:cNvCxnSpPr>
            <a:stCxn id="296" idx="2"/>
            <a:endCxn id="298" idx="0"/>
          </p:cNvCxnSpPr>
          <p:nvPr/>
        </p:nvCxnSpPr>
        <p:spPr>
          <a:xfrm flipH="1">
            <a:off x="833233" y="3035120"/>
            <a:ext cx="570300" cy="44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5" name="Google Shape;305;p44"/>
          <p:cNvCxnSpPr>
            <a:stCxn id="296" idx="2"/>
            <a:endCxn id="297" idx="0"/>
          </p:cNvCxnSpPr>
          <p:nvPr/>
        </p:nvCxnSpPr>
        <p:spPr>
          <a:xfrm>
            <a:off x="1403533" y="3035120"/>
            <a:ext cx="1030200" cy="44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6" name="Google Shape;306;p44"/>
          <p:cNvSpPr txBox="1"/>
          <p:nvPr/>
        </p:nvSpPr>
        <p:spPr>
          <a:xfrm>
            <a:off x="226476" y="4297450"/>
            <a:ext cx="382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Can distinguish Chatgpt okay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But impossible search vs brain only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7" name="Google Shape;30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8542" y="0"/>
            <a:ext cx="542456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4"/>
          <p:cNvSpPr/>
          <p:nvPr/>
        </p:nvSpPr>
        <p:spPr>
          <a:xfrm>
            <a:off x="3497875" y="43050"/>
            <a:ext cx="5537400" cy="402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4"/>
          <p:cNvSpPr/>
          <p:nvPr/>
        </p:nvSpPr>
        <p:spPr>
          <a:xfrm>
            <a:off x="3542125" y="3895450"/>
            <a:ext cx="5424600" cy="738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predict chatgpt with just meanfreq and 1 region?</a:t>
            </a:r>
            <a:endParaRPr/>
          </a:p>
        </p:txBody>
      </p:sp>
      <p:pic>
        <p:nvPicPr>
          <p:cNvPr id="315" name="Google Shape;31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650" y="1250825"/>
            <a:ext cx="5926695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5"/>
          <p:cNvSpPr txBox="1"/>
          <p:nvPr/>
        </p:nvSpPr>
        <p:spPr>
          <a:xfrm>
            <a:off x="2211300" y="1677150"/>
            <a:ext cx="645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93.8%                      96.3%                      94.6%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2946384" y="2356200"/>
            <a:ext cx="645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7</a:t>
            </a:r>
            <a:r>
              <a:rPr b="1" lang="en" sz="1600">
                <a:solidFill>
                  <a:schemeClr val="lt1"/>
                </a:solidFill>
              </a:rPr>
              <a:t>3.3%                     71.7%                      70.0%</a:t>
            </a:r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Frontal region, 2 predictors</a:t>
            </a:r>
            <a:endParaRPr/>
          </a:p>
        </p:txBody>
      </p:sp>
      <p:pic>
        <p:nvPicPr>
          <p:cNvPr id="323" name="Google Shape;32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776" y="1240807"/>
            <a:ext cx="4195230" cy="345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6"/>
          <p:cNvSpPr txBox="1"/>
          <p:nvPr>
            <p:ph idx="1" type="body"/>
          </p:nvPr>
        </p:nvSpPr>
        <p:spPr>
          <a:xfrm>
            <a:off x="4897125" y="607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class weights = balanced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Scale per participant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Testing accuracy 86.7%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Features used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Frontal theta/beta slope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Frontal (alpha+theta)/beta slope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5" name="Google Shape;325;p46"/>
          <p:cNvSpPr txBox="1"/>
          <p:nvPr/>
        </p:nvSpPr>
        <p:spPr>
          <a:xfrm>
            <a:off x="4897125" y="3336700"/>
            <a:ext cx="45720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ChatGPT group more sleepy,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less attention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without subject specific scaling</a:t>
            </a:r>
            <a:endParaRPr/>
          </a:p>
        </p:txBody>
      </p:sp>
      <p:pic>
        <p:nvPicPr>
          <p:cNvPr id="331" name="Google Shape;33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8325" y="1017725"/>
            <a:ext cx="403234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the safe (heirarchical cross validation)</a:t>
            </a:r>
            <a:endParaRPr/>
          </a:p>
        </p:txBody>
      </p:sp>
      <p:sp>
        <p:nvSpPr>
          <p:cNvPr id="337" name="Google Shape;33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Use class weights = balanced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Scale per participant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Accuracy 87.5%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38" name="Google Shape;33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7000" y="1152470"/>
            <a:ext cx="4042300" cy="3830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344" name="Google Shape;344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Chatgpt distinct from brain only and search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Can be </a:t>
            </a:r>
            <a:r>
              <a:rPr lang="en">
                <a:solidFill>
                  <a:schemeClr val="dk1"/>
                </a:solidFill>
              </a:rPr>
              <a:t>identified</a:t>
            </a:r>
            <a:r>
              <a:rPr lang="en">
                <a:solidFill>
                  <a:schemeClr val="dk1"/>
                </a:solidFill>
              </a:rPr>
              <a:t> with few predictors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Need to express caution with unbalanced data, avoid random guessing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Subject specific </a:t>
            </a:r>
            <a:r>
              <a:rPr lang="en">
                <a:solidFill>
                  <a:schemeClr val="dk1"/>
                </a:solidFill>
              </a:rPr>
              <a:t>scaling</a:t>
            </a:r>
            <a:r>
              <a:rPr lang="en">
                <a:solidFill>
                  <a:schemeClr val="dk1"/>
                </a:solidFill>
              </a:rPr>
              <a:t> targets how people change with condition from brain only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Chatgpt uses tend to have higher </a:t>
            </a:r>
            <a:r>
              <a:rPr lang="en">
                <a:solidFill>
                  <a:schemeClr val="dk1"/>
                </a:solidFill>
              </a:rPr>
              <a:t>theta/beta band ratio (TBR) (attention function slope) and (alpha+theta)/beta (more sleepy slope)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Achieve the same results with only 5-min of data</a:t>
            </a:r>
            <a:endParaRPr/>
          </a:p>
        </p:txBody>
      </p:sp>
      <p:graphicFrame>
        <p:nvGraphicFramePr>
          <p:cNvPr id="350" name="Google Shape;350;p50"/>
          <p:cNvGraphicFramePr/>
          <p:nvPr/>
        </p:nvGraphicFramePr>
        <p:xfrm>
          <a:off x="511250" y="195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{532355A3-BB82-4D83-A646-92BBAF8C4D12}</a:tableStyleId>
              </a:tblPr>
              <a:tblGrid>
                <a:gridCol w="1466850"/>
                <a:gridCol w="1381125"/>
                <a:gridCol w="1314450"/>
                <a:gridCol w="1162050"/>
                <a:gridCol w="1057275"/>
                <a:gridCol w="952500"/>
                <a:gridCol w="561975"/>
              </a:tblGrid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Feature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Analysis Window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Mean (ChatGPT)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Mean (Non-AI)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% Difference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Cohen's 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p-Value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Frontal Theta/Beta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Full Session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0.339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0.255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+33.1%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0.591 (Med)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0.156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5-Min Snapshot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0.264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0.271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-2.6%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-0.052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0.867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Alpha-Theta / Beta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Full Session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0.559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0.444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+25.8%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0.522 (Med)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0.202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5-Min Snapshot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0.446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0.452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-1.2%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-0.027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0.937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1" name="Google Shape;351;p50"/>
          <p:cNvSpPr txBox="1"/>
          <p:nvPr>
            <p:ph idx="1" type="body"/>
          </p:nvPr>
        </p:nvSpPr>
        <p:spPr>
          <a:xfrm>
            <a:off x="123750" y="980350"/>
            <a:ext cx="8896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Answer: No, slope changes over entire 30-min, not in just 5.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Means different for ChatGPT group, non AI and ChatGPT more </a:t>
            </a:r>
            <a:r>
              <a:rPr lang="en">
                <a:solidFill>
                  <a:schemeClr val="dk1"/>
                </a:solidFill>
              </a:rPr>
              <a:t>similar</a:t>
            </a:r>
            <a:r>
              <a:rPr lang="en">
                <a:solidFill>
                  <a:schemeClr val="dk1"/>
                </a:solidFill>
              </a:rPr>
              <a:t> first 5 mins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0"/>
          <p:cNvSpPr/>
          <p:nvPr/>
        </p:nvSpPr>
        <p:spPr>
          <a:xfrm>
            <a:off x="3356725" y="2646500"/>
            <a:ext cx="3536400" cy="6792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50"/>
          <p:cNvSpPr/>
          <p:nvPr/>
        </p:nvSpPr>
        <p:spPr>
          <a:xfrm>
            <a:off x="3356725" y="3843900"/>
            <a:ext cx="3536400" cy="6792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Achieve the same results with only 5-min of data</a:t>
            </a:r>
            <a:endParaRPr/>
          </a:p>
        </p:txBody>
      </p:sp>
      <p:graphicFrame>
        <p:nvGraphicFramePr>
          <p:cNvPr id="359" name="Google Shape;359;p51"/>
          <p:cNvGraphicFramePr/>
          <p:nvPr/>
        </p:nvGraphicFramePr>
        <p:xfrm>
          <a:off x="511250" y="1954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{532355A3-BB82-4D83-A646-92BBAF8C4D12}</a:tableStyleId>
              </a:tblPr>
              <a:tblGrid>
                <a:gridCol w="1466850"/>
                <a:gridCol w="1381125"/>
                <a:gridCol w="1314450"/>
                <a:gridCol w="1162050"/>
                <a:gridCol w="1057275"/>
                <a:gridCol w="952500"/>
                <a:gridCol w="561975"/>
              </a:tblGrid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Feature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Analysis Window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Mean (ChatGPT)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Mean (Non-AI)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% Difference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Cohen's 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p-Value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Frontal Theta/Beta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Full Session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0.339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0.255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+33.1%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0.591 (Med)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0.156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5-Min Snapshot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0.264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0.271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-2.6%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-0.052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0.867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Alpha-Theta / Beta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Full Session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0.559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0.444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</a:rPr>
                        <a:t>+25.8%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0.522 (Med)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0.202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5-Min Snapshot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0.446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0.452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-1.2%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-0.027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114300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</a:rPr>
                        <a:t>0.937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152400" marB="152400" marR="91425" marL="91425">
                    <a:lnL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0" name="Google Shape;360;p51"/>
          <p:cNvSpPr txBox="1"/>
          <p:nvPr>
            <p:ph idx="1" type="body"/>
          </p:nvPr>
        </p:nvSpPr>
        <p:spPr>
          <a:xfrm>
            <a:off x="123750" y="980350"/>
            <a:ext cx="8896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Answer: No, slope changes over entire 30-min, not in just 5.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Means different for ChatGPT group, non AI and ChatGPT more similar first 5 mins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1"/>
          <p:cNvSpPr/>
          <p:nvPr/>
        </p:nvSpPr>
        <p:spPr>
          <a:xfrm>
            <a:off x="3356725" y="2646500"/>
            <a:ext cx="1317000" cy="1174500"/>
          </a:xfrm>
          <a:prstGeom prst="rect">
            <a:avLst/>
          </a:prstGeom>
          <a:noFill/>
          <a:ln cap="flat" cmpd="sng" w="3810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1"/>
          <p:cNvSpPr/>
          <p:nvPr/>
        </p:nvSpPr>
        <p:spPr>
          <a:xfrm>
            <a:off x="3356725" y="3821050"/>
            <a:ext cx="1317000" cy="1174500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2: Regression</a:t>
            </a:r>
            <a:endParaRPr/>
          </a:p>
        </p:txBody>
      </p:sp>
      <p:sp>
        <p:nvSpPr>
          <p:cNvPr id="368" name="Google Shape;368;p52"/>
          <p:cNvSpPr txBox="1"/>
          <p:nvPr/>
        </p:nvSpPr>
        <p:spPr>
          <a:xfrm>
            <a:off x="2545800" y="3212575"/>
            <a:ext cx="659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374" name="Google Shape;374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Predict </a:t>
            </a:r>
            <a:r>
              <a:rPr b="1" lang="en">
                <a:solidFill>
                  <a:schemeClr val="dk1"/>
                </a:solidFill>
              </a:rPr>
              <a:t>average workload</a:t>
            </a:r>
            <a:r>
              <a:rPr lang="en">
                <a:solidFill>
                  <a:schemeClr val="dk1"/>
                </a:solidFill>
              </a:rPr>
              <a:t> using EEG-derived features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Two task settings: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Task 1: Brain Only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Task 2: Search / ChatGPT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380" name="Google Shape;380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Total dataset: </a:t>
            </a:r>
            <a:r>
              <a:rPr b="1" lang="en">
                <a:solidFill>
                  <a:schemeClr val="dk1"/>
                </a:solidFill>
              </a:rPr>
              <a:t>68 rows × 278 columns </a:t>
            </a:r>
            <a:r>
              <a:rPr lang="en">
                <a:solidFill>
                  <a:schemeClr val="dk1"/>
                </a:solidFill>
              </a:rPr>
              <a:t>(</a:t>
            </a:r>
            <a:r>
              <a:rPr lang="en">
                <a:solidFill>
                  <a:schemeClr val="dk1"/>
                </a:solidFill>
              </a:rPr>
              <a:t>High-dimensional, small-sample data)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Split into two subsets: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Task 1: </a:t>
            </a:r>
            <a:r>
              <a:rPr b="1" lang="en">
                <a:solidFill>
                  <a:schemeClr val="dk1"/>
                </a:solidFill>
              </a:rPr>
              <a:t>34 samples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Task 2: </a:t>
            </a:r>
            <a:r>
              <a:rPr b="1" lang="en">
                <a:solidFill>
                  <a:schemeClr val="dk1"/>
                </a:solidFill>
              </a:rPr>
              <a:t>34 samples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Predictors: </a:t>
            </a:r>
            <a:r>
              <a:rPr b="1" lang="en">
                <a:solidFill>
                  <a:schemeClr val="dk1"/>
                </a:solidFill>
              </a:rPr>
              <a:t>258 EEG features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Target: </a:t>
            </a:r>
            <a:r>
              <a:rPr b="1" lang="en">
                <a:solidFill>
                  <a:schemeClr val="dk1"/>
                </a:solidFill>
              </a:rPr>
              <a:t>Average workload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</a:t>
            </a:r>
            <a:endParaRPr/>
          </a:p>
        </p:txBody>
      </p:sp>
      <p:sp>
        <p:nvSpPr>
          <p:cNvPr id="386" name="Google Shape;386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Applied </a:t>
            </a:r>
            <a:r>
              <a:rPr b="1" lang="en">
                <a:solidFill>
                  <a:schemeClr val="dk1"/>
                </a:solidFill>
              </a:rPr>
              <a:t>Principal Component Analysis (PCA)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Purpose: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Reduce dimensionality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Handle correlated EEG features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Results: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Task 2 → </a:t>
            </a:r>
            <a:r>
              <a:rPr b="1" lang="en">
                <a:solidFill>
                  <a:schemeClr val="dk1"/>
                </a:solidFill>
              </a:rPr>
              <a:t>16 components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Task 1 → </a:t>
            </a:r>
            <a:r>
              <a:rPr b="1" lang="en">
                <a:solidFill>
                  <a:schemeClr val="dk1"/>
                </a:solidFill>
              </a:rPr>
              <a:t>18 components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95% variance retained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7" name="Google Shape;38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0650" y="-12"/>
            <a:ext cx="394335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0675" y="2571750"/>
            <a:ext cx="4251050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  <p:sp>
        <p:nvSpPr>
          <p:cNvPr id="394" name="Google Shape;394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Ridge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Lasso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Elastic Net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Support Vector Regression (SVR)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Random Forest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K-Fold Cross-Validation(k=5)</a:t>
            </a:r>
            <a:endParaRPr/>
          </a:p>
        </p:txBody>
      </p:sp>
      <p:sp>
        <p:nvSpPr>
          <p:cNvPr id="400" name="Google Shape;400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Used </a:t>
            </a:r>
            <a:r>
              <a:rPr b="1" lang="en">
                <a:solidFill>
                  <a:schemeClr val="dk1"/>
                </a:solidFill>
              </a:rPr>
              <a:t>K-Fold Cross-Validation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Why?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Small dataset → unstable single split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Benefits: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More robust performance estimate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Task 1: Brain only</a:t>
            </a:r>
            <a:endParaRPr/>
          </a:p>
        </p:txBody>
      </p:sp>
      <p:sp>
        <p:nvSpPr>
          <p:cNvPr id="406" name="Google Shape;406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7" name="Google Shape;40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738" y="1152463"/>
            <a:ext cx="3609975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Task 2: Search/Chat-GPT</a:t>
            </a:r>
            <a:endParaRPr/>
          </a:p>
        </p:txBody>
      </p:sp>
      <p:sp>
        <p:nvSpPr>
          <p:cNvPr id="413" name="Google Shape;413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4" name="Google Shape;41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225" y="1094775"/>
            <a:ext cx="8058150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21" name="Google Shape;42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25" y="1017725"/>
            <a:ext cx="8162925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Results Task 2: Search/Chat-GPT</a:t>
            </a:r>
            <a:endParaRPr/>
          </a:p>
        </p:txBody>
      </p:sp>
      <p:sp>
        <p:nvSpPr>
          <p:cNvPr id="427" name="Google Shape;427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25" y="1152475"/>
            <a:ext cx="3819525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onclusion </a:t>
            </a:r>
            <a:endParaRPr/>
          </a:p>
        </p:txBody>
      </p:sp>
      <p:sp>
        <p:nvSpPr>
          <p:cNvPr id="434" name="Google Shape;434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Workload regression was a </a:t>
            </a:r>
            <a:r>
              <a:rPr b="1" lang="en" sz="2200">
                <a:solidFill>
                  <a:schemeClr val="dk1"/>
                </a:solidFill>
              </a:rPr>
              <a:t>small-sample, high-dimensional problem</a:t>
            </a:r>
            <a:r>
              <a:rPr lang="en" sz="2200">
                <a:solidFill>
                  <a:schemeClr val="dk1"/>
                </a:solidFill>
              </a:rPr>
              <a:t>, so </a:t>
            </a:r>
            <a:r>
              <a:rPr b="1" lang="en" sz="2200">
                <a:solidFill>
                  <a:schemeClr val="dk1"/>
                </a:solidFill>
              </a:rPr>
              <a:t>PCA-based dimensionality reduction</a:t>
            </a:r>
            <a:r>
              <a:rPr lang="en" sz="2200">
                <a:solidFill>
                  <a:schemeClr val="dk1"/>
                </a:solidFill>
              </a:rPr>
              <a:t> was necessary.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chemeClr val="dk1"/>
                </a:solidFill>
              </a:rPr>
              <a:t>SVR was the best-performing regression model</a:t>
            </a:r>
            <a:r>
              <a:rPr lang="en" sz="2200">
                <a:solidFill>
                  <a:schemeClr val="dk1"/>
                </a:solidFill>
              </a:rPr>
              <a:t>, suggesting the relationship between EEG and workload may be </a:t>
            </a:r>
            <a:r>
              <a:rPr b="1" lang="en" sz="2200">
                <a:solidFill>
                  <a:schemeClr val="dk1"/>
                </a:solidFill>
              </a:rPr>
              <a:t>nonlinear</a:t>
            </a:r>
            <a:r>
              <a:rPr lang="en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Even the best regression results were still </a:t>
            </a:r>
            <a:r>
              <a:rPr b="1" lang="en" sz="2200">
                <a:solidFill>
                  <a:schemeClr val="dk1"/>
                </a:solidFill>
              </a:rPr>
              <a:t>not strong enough for reliable workload prediction</a:t>
            </a:r>
            <a:r>
              <a:rPr lang="en" sz="2200">
                <a:solidFill>
                  <a:schemeClr val="dk1"/>
                </a:solidFill>
              </a:rPr>
              <a:t>, with weak generalization and low or negative </a:t>
            </a:r>
            <a:r>
              <a:rPr b="1" lang="en" sz="2200">
                <a:solidFill>
                  <a:schemeClr val="dk1"/>
                </a:solidFill>
              </a:rPr>
              <a:t>R²</a:t>
            </a:r>
            <a:r>
              <a:rPr lang="en" sz="2200">
                <a:solidFill>
                  <a:schemeClr val="dk1"/>
                </a:solidFill>
              </a:rPr>
              <a:t>.</a:t>
            </a:r>
            <a:endParaRPr sz="29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</a:t>
            </a:r>
            <a:endParaRPr/>
          </a:p>
        </p:txBody>
      </p:sp>
      <p:sp>
        <p:nvSpPr>
          <p:cNvPr id="440" name="Google Shape;440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https://doi.org/10.1016/j.sleep.2025.108723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[2]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https://www.sciencedirect.com/science/article/pii/S0360132325011436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[3]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https://doi.org/10.1016/j.ijpsycho.2016.11.005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[4]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https://www.sciencedirect.com/science/article/pii/S195903182100138X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Appendix</a:t>
            </a:r>
            <a:endParaRPr/>
          </a:p>
        </p:txBody>
      </p:sp>
      <p:sp>
        <p:nvSpPr>
          <p:cNvPr id="446" name="Google Shape;446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7" name="Google Shape;44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6395"/>
            <a:ext cx="9144003" cy="2830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2: Logistic Regression with Ridge</a:t>
            </a:r>
            <a:endParaRPr/>
          </a:p>
        </p:txBody>
      </p:sp>
      <p:sp>
        <p:nvSpPr>
          <p:cNvPr id="453" name="Google Shape;453;p65"/>
          <p:cNvSpPr txBox="1"/>
          <p:nvPr>
            <p:ph idx="1" type="body"/>
          </p:nvPr>
        </p:nvSpPr>
        <p:spPr>
          <a:xfrm>
            <a:off x="204225" y="1152475"/>
            <a:ext cx="8762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Categorical Problem: Can we distinguish between brain only, chatgpt, and search?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Ridge won’t make coefficients to zero but shrink them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Aim to reduce multi</a:t>
            </a:r>
            <a:r>
              <a:rPr lang="en">
                <a:solidFill>
                  <a:schemeClr val="dk1"/>
                </a:solidFill>
              </a:rPr>
              <a:t>collinearity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4" name="Google Shape;454;p65"/>
          <p:cNvSpPr txBox="1"/>
          <p:nvPr/>
        </p:nvSpPr>
        <p:spPr>
          <a:xfrm>
            <a:off x="204225" y="2883825"/>
            <a:ext cx="37218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</a:rPr>
              <a:t>Keeps all features</a:t>
            </a:r>
            <a:endParaRPr sz="19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</a:rPr>
              <a:t>Training Accuracy: 100.00%</a:t>
            </a:r>
            <a:endParaRPr sz="19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1F1F1F"/>
                </a:solidFill>
                <a:highlight>
                  <a:srgbClr val="FFFFFF"/>
                </a:highlight>
              </a:rPr>
              <a:t>Testing Accuracy:  46.67%</a:t>
            </a:r>
            <a:r>
              <a:rPr lang="en" sz="1900">
                <a:solidFill>
                  <a:schemeClr val="dk1"/>
                </a:solidFill>
              </a:rPr>
              <a:t> </a:t>
            </a:r>
            <a:endParaRPr sz="1900"/>
          </a:p>
        </p:txBody>
      </p:sp>
      <p:pic>
        <p:nvPicPr>
          <p:cNvPr id="455" name="Google Shape;45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2725" y="2385849"/>
            <a:ext cx="5527225" cy="218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6"/>
          <p:cNvSpPr txBox="1"/>
          <p:nvPr>
            <p:ph type="title"/>
          </p:nvPr>
        </p:nvSpPr>
        <p:spPr>
          <a:xfrm>
            <a:off x="242300" y="445025"/>
            <a:ext cx="872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2: Specific lambda (1000), worse performance, more useful</a:t>
            </a:r>
            <a:endParaRPr/>
          </a:p>
        </p:txBody>
      </p:sp>
      <p:sp>
        <p:nvSpPr>
          <p:cNvPr id="461" name="Google Shape;461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Training Accuracy: 64.2%; Testing Accuracy: 45.0%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62" name="Google Shape;46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06454"/>
            <a:ext cx="9143999" cy="3611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predict chatgpt vs not more accurately?</a:t>
            </a:r>
            <a:endParaRPr/>
          </a:p>
        </p:txBody>
      </p:sp>
      <p:sp>
        <p:nvSpPr>
          <p:cNvPr id="468" name="Google Shape;468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 forest: training accuracy, training 97.8%; testing accuracy 70%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PCA forest with within subject normalization: Training 98.3%; testing 75%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69" name="Google Shape;46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878" y="2310975"/>
            <a:ext cx="8520600" cy="225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just one region all data?</a:t>
            </a:r>
            <a:endParaRPr/>
          </a:p>
        </p:txBody>
      </p:sp>
      <p:sp>
        <p:nvSpPr>
          <p:cNvPr id="475" name="Google Shape;475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76" name="Google Shape;476;p68"/>
          <p:cNvPicPr preferRelativeResize="0"/>
          <p:nvPr/>
        </p:nvPicPr>
        <p:blipFill rotWithShape="1">
          <a:blip r:embed="rId3">
            <a:alphaModFix/>
          </a:blip>
          <a:srcRect b="0" l="0" r="0" t="7124"/>
          <a:stretch/>
        </p:blipFill>
        <p:spPr>
          <a:xfrm>
            <a:off x="311700" y="947124"/>
            <a:ext cx="8169326" cy="4144901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68"/>
          <p:cNvSpPr txBox="1"/>
          <p:nvPr/>
        </p:nvSpPr>
        <p:spPr>
          <a:xfrm>
            <a:off x="1187608" y="1253808"/>
            <a:ext cx="645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97.5%                                   93.3%                                  95.8%</a:t>
            </a:r>
            <a:endParaRPr b="1" sz="1600">
              <a:solidFill>
                <a:schemeClr val="lt1"/>
              </a:solidFill>
            </a:endParaRPr>
          </a:p>
        </p:txBody>
      </p:sp>
      <p:sp>
        <p:nvSpPr>
          <p:cNvPr id="478" name="Google Shape;478;p68"/>
          <p:cNvSpPr txBox="1"/>
          <p:nvPr/>
        </p:nvSpPr>
        <p:spPr>
          <a:xfrm>
            <a:off x="2226963" y="2184213"/>
            <a:ext cx="645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</a:rPr>
              <a:t>73.3%                                  78.3%                                   68.3%</a:t>
            </a:r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